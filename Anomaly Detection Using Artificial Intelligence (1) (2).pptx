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EBBF-7D02-78A7-29A4-F59F89240F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455ABC-902A-5C95-568F-AA724F1BB6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1484D5-B194-A5E0-51E7-6D1712C10C1F}"/>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1195C4AE-C63E-1120-909D-746D1AD66A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283D5-947B-189D-53B7-B2B036370602}"/>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793591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73B13-FBAC-D467-3783-6842FF0339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B29592-2F3B-4010-701D-217EC11772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0F2D7B-BBA6-ABBA-7C28-65EB38F7ADA3}"/>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D89D0BFC-4D21-173A-3165-3195411CA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EE96E-FF17-30D7-7E5E-4EAA5A683196}"/>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310490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7F2FC-D53F-1B22-7F5A-2FCA7D68DF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866D76-CB5C-7C85-5261-3830D75746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19C83C-685C-AA65-0095-939FC2474378}"/>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D4A4B293-E92E-8D6C-1F89-EB27BEC94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3AB86F-3171-3C99-186D-D396399725D8}"/>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3585711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F390-C48E-0553-1239-6A45009E6C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30E1A9-FBB1-B0FF-554E-E46B19FA16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9A564F-DAB2-B505-3119-5E9EF40FFF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8E899E-F10D-3B3D-3055-38DA9987E116}"/>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6" name="Footer Placeholder 5">
            <a:extLst>
              <a:ext uri="{FF2B5EF4-FFF2-40B4-BE49-F238E27FC236}">
                <a16:creationId xmlns:a16="http://schemas.microsoft.com/office/drawing/2014/main" id="{3F1FC1B4-9E0A-6362-1FCD-5C1396CD7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BB11E-AFC5-E193-F621-F1DFDBCC532D}"/>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2645275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132F-93C6-924F-97DE-EF30DD88A8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B128E1-E07E-E0D1-59B7-A56A0A9ECB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5114D-548B-F86F-5622-FA5B09B9BF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EE36DB-FB27-3BF7-6352-0D7624350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26966E-B3C2-D39E-A32C-F77739616C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00B314-A791-E51C-34B3-1EE092250DB1}"/>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8" name="Footer Placeholder 7">
            <a:extLst>
              <a:ext uri="{FF2B5EF4-FFF2-40B4-BE49-F238E27FC236}">
                <a16:creationId xmlns:a16="http://schemas.microsoft.com/office/drawing/2014/main" id="{C8650BE5-CE25-16A8-0446-FF567FAFB3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C03C1-4802-130F-C54B-9B485CF7CF9C}"/>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802148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EBCBB-0E71-6D01-CAD5-38D11A68BA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3692E0-08BA-5DB8-2210-522F608D759F}"/>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4" name="Footer Placeholder 3">
            <a:extLst>
              <a:ext uri="{FF2B5EF4-FFF2-40B4-BE49-F238E27FC236}">
                <a16:creationId xmlns:a16="http://schemas.microsoft.com/office/drawing/2014/main" id="{C804B288-66BF-0F01-B8A3-73769ACDB1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7FE44C-5500-16E9-737D-910860EDA42F}"/>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2011690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B9AE9-9E3F-AD95-58A0-E25DD9817228}"/>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3" name="Footer Placeholder 2">
            <a:extLst>
              <a:ext uri="{FF2B5EF4-FFF2-40B4-BE49-F238E27FC236}">
                <a16:creationId xmlns:a16="http://schemas.microsoft.com/office/drawing/2014/main" id="{099519F5-7467-1641-31B5-C336D7A1FA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5F62EE-19C9-2BC5-0B18-EEFC8ADA9B55}"/>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69574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7C49A-F625-4443-3F4A-67D21E5F2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16C85-3C79-F2BB-BD4C-941F011E44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C453D1-6F0E-6629-1067-D88111CA2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63482-86B3-1A47-505C-0F58BFBA3933}"/>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6" name="Footer Placeholder 5">
            <a:extLst>
              <a:ext uri="{FF2B5EF4-FFF2-40B4-BE49-F238E27FC236}">
                <a16:creationId xmlns:a16="http://schemas.microsoft.com/office/drawing/2014/main" id="{70FA3D97-F1B6-FA6B-4EFA-484183B0EE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DE529-C07B-292C-EB73-A741BA21B55C}"/>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3727055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3AA33-9495-CE55-3EC9-F54E992DE8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A8364A-A8D3-F4AB-1100-9399BA93CE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407163-2699-5764-928D-937BA9B3B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180E6-3BC7-015F-FD4B-A7957865631E}"/>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6" name="Footer Placeholder 5">
            <a:extLst>
              <a:ext uri="{FF2B5EF4-FFF2-40B4-BE49-F238E27FC236}">
                <a16:creationId xmlns:a16="http://schemas.microsoft.com/office/drawing/2014/main" id="{71626345-D19F-3720-2BD2-7864404292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937F13-7DEC-EC72-396C-C1D944A19F16}"/>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2914405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F82A-840C-98DB-7201-BECD8A9395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FA3ED2-909E-5F2E-D930-3618D6C644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89933-B5D0-C032-4FEE-24C43FEF1246}"/>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374CF244-DC0A-3C73-6FC8-FEAA791A7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E274E-BB36-B0CB-02B0-FAD053B38464}"/>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203971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FF86E9-50E1-2B43-F97D-8E65CBF05B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49D14A-A8C6-4ADA-AAE7-EE3C949127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4D0B90-3FE5-C1E3-27F2-4AB745046661}"/>
              </a:ext>
            </a:extLst>
          </p:cNvPr>
          <p:cNvSpPr>
            <a:spLocks noGrp="1"/>
          </p:cNvSpPr>
          <p:nvPr>
            <p:ph type="dt" sz="half" idx="10"/>
          </p:nvPr>
        </p:nvSpPr>
        <p:spPr/>
        <p:txBody>
          <a:body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48A90639-3FB1-0E50-1294-3DBB526B9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AC46C-0DDB-992D-9584-40826A143930}"/>
              </a:ext>
            </a:extLst>
          </p:cNvPr>
          <p:cNvSpPr>
            <a:spLocks noGrp="1"/>
          </p:cNvSpPr>
          <p:nvPr>
            <p:ph type="sldNum" sz="quarter" idx="12"/>
          </p:nvPr>
        </p:nvSpPr>
        <p:spPr/>
        <p:txBody>
          <a:bodyPr/>
          <a:lstStyle/>
          <a:p>
            <a:fld id="{ECFAF29E-247D-4FC4-AB4F-4FA9224E8184}" type="slidenum">
              <a:rPr lang="en-US" smtClean="0"/>
              <a:t>‹#›</a:t>
            </a:fld>
            <a:endParaRPr lang="en-US"/>
          </a:p>
        </p:txBody>
      </p:sp>
    </p:spTree>
    <p:extLst>
      <p:ext uri="{BB962C8B-B14F-4D97-AF65-F5344CB8AC3E}">
        <p14:creationId xmlns:p14="http://schemas.microsoft.com/office/powerpoint/2010/main" val="3999519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BBF5D2-287B-5721-EFFA-20862AB4F8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454BF0-4955-683B-9CE7-B2FC73DBC2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12829-A196-D7D7-CFC2-F4D0F9C452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6E073-FD02-404D-A44E-63E5C846B3F5}" type="datetimeFigureOut">
              <a:rPr lang="en-US" smtClean="0"/>
              <a:t>6/6/2026</a:t>
            </a:fld>
            <a:endParaRPr lang="en-US"/>
          </a:p>
        </p:txBody>
      </p:sp>
      <p:sp>
        <p:nvSpPr>
          <p:cNvPr id="5" name="Footer Placeholder 4">
            <a:extLst>
              <a:ext uri="{FF2B5EF4-FFF2-40B4-BE49-F238E27FC236}">
                <a16:creationId xmlns:a16="http://schemas.microsoft.com/office/drawing/2014/main" id="{96BC5EAA-B9E5-773C-52C3-2A49DEAE88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786414-2025-7BF3-B342-ED6D22009F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FAF29E-247D-4FC4-AB4F-4FA9224E8184}" type="slidenum">
              <a:rPr lang="en-US" smtClean="0"/>
              <a:t>‹#›</a:t>
            </a:fld>
            <a:endParaRPr lang="en-US"/>
          </a:p>
        </p:txBody>
      </p:sp>
    </p:spTree>
    <p:extLst>
      <p:ext uri="{BB962C8B-B14F-4D97-AF65-F5344CB8AC3E}">
        <p14:creationId xmlns:p14="http://schemas.microsoft.com/office/powerpoint/2010/main" val="52440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9BD3-86F8-FC49-9FDC-366FF33992C7}"/>
              </a:ext>
            </a:extLst>
          </p:cNvPr>
          <p:cNvSpPr>
            <a:spLocks noGrp="1"/>
          </p:cNvSpPr>
          <p:nvPr>
            <p:ph type="ctrTitle"/>
          </p:nvPr>
        </p:nvSpPr>
        <p:spPr>
          <a:xfrm>
            <a:off x="0" y="1077363"/>
            <a:ext cx="6663350" cy="1717895"/>
          </a:xfrm>
        </p:spPr>
        <p:txBody>
          <a:bodyPr>
            <a:normAutofit fontScale="90000"/>
          </a:bodyPr>
          <a:lstStyle/>
          <a:p>
            <a:r>
              <a:rPr lang="en-US" dirty="0">
                <a:latin typeface="Bahnschrift Condensed" panose="020B0502040204020203" pitchFamily="34" charset="0"/>
              </a:rPr>
              <a:t>Anomaly Detection Using Artificial Intelligence</a:t>
            </a:r>
          </a:p>
        </p:txBody>
      </p:sp>
      <p:pic>
        <p:nvPicPr>
          <p:cNvPr id="5" name="Picture 4">
            <a:extLst>
              <a:ext uri="{FF2B5EF4-FFF2-40B4-BE49-F238E27FC236}">
                <a16:creationId xmlns:a16="http://schemas.microsoft.com/office/drawing/2014/main" id="{A8FCBC4A-5338-B53D-6B67-14B5D3086993}"/>
              </a:ext>
            </a:extLst>
          </p:cNvPr>
          <p:cNvPicPr>
            <a:picLocks noChangeAspect="1"/>
          </p:cNvPicPr>
          <p:nvPr/>
        </p:nvPicPr>
        <p:blipFill>
          <a:blip r:embed="rId2"/>
          <a:stretch>
            <a:fillRect/>
          </a:stretch>
        </p:blipFill>
        <p:spPr>
          <a:xfrm>
            <a:off x="7061704" y="823866"/>
            <a:ext cx="4547775" cy="4968615"/>
          </a:xfrm>
          <a:prstGeom prst="rect">
            <a:avLst/>
          </a:prstGeom>
        </p:spPr>
      </p:pic>
      <p:cxnSp>
        <p:nvCxnSpPr>
          <p:cNvPr id="7" name="Straight Connector 6">
            <a:extLst>
              <a:ext uri="{FF2B5EF4-FFF2-40B4-BE49-F238E27FC236}">
                <a16:creationId xmlns:a16="http://schemas.microsoft.com/office/drawing/2014/main" id="{D91F58F8-78F6-2D65-AFD5-2C0813ABD1DF}"/>
              </a:ext>
            </a:extLst>
          </p:cNvPr>
          <p:cNvCxnSpPr/>
          <p:nvPr/>
        </p:nvCxnSpPr>
        <p:spPr>
          <a:xfrm>
            <a:off x="6663350" y="452673"/>
            <a:ext cx="0" cy="5721790"/>
          </a:xfrm>
          <a:prstGeom prst="line">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sp>
        <p:nvSpPr>
          <p:cNvPr id="8" name="Title 1">
            <a:extLst>
              <a:ext uri="{FF2B5EF4-FFF2-40B4-BE49-F238E27FC236}">
                <a16:creationId xmlns:a16="http://schemas.microsoft.com/office/drawing/2014/main" id="{C7B1A5C1-1BEF-E785-9582-C37C8A9A3D92}"/>
              </a:ext>
            </a:extLst>
          </p:cNvPr>
          <p:cNvSpPr txBox="1">
            <a:spLocks/>
          </p:cNvSpPr>
          <p:nvPr/>
        </p:nvSpPr>
        <p:spPr>
          <a:xfrm>
            <a:off x="1283329" y="3148343"/>
            <a:ext cx="4096693" cy="11577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Bahnschrift Condensed" panose="020B0502040204020203" pitchFamily="34" charset="0"/>
              </a:rPr>
              <a:t>Identifying abnormal patterns in complex data systems</a:t>
            </a:r>
          </a:p>
        </p:txBody>
      </p:sp>
      <p:cxnSp>
        <p:nvCxnSpPr>
          <p:cNvPr id="10" name="Straight Connector 9">
            <a:extLst>
              <a:ext uri="{FF2B5EF4-FFF2-40B4-BE49-F238E27FC236}">
                <a16:creationId xmlns:a16="http://schemas.microsoft.com/office/drawing/2014/main" id="{1B916185-AB25-B215-F2CC-19F153693795}"/>
              </a:ext>
            </a:extLst>
          </p:cNvPr>
          <p:cNvCxnSpPr/>
          <p:nvPr/>
        </p:nvCxnSpPr>
        <p:spPr>
          <a:xfrm>
            <a:off x="330450" y="3148343"/>
            <a:ext cx="6002447" cy="0"/>
          </a:xfrm>
          <a:prstGeom prst="line">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858A91D3-DBC8-8A1E-040F-E61EA8582159}"/>
              </a:ext>
            </a:extLst>
          </p:cNvPr>
          <p:cNvSpPr txBox="1"/>
          <p:nvPr/>
        </p:nvSpPr>
        <p:spPr>
          <a:xfrm>
            <a:off x="1203089" y="4659135"/>
            <a:ext cx="4645450" cy="1200329"/>
          </a:xfrm>
          <a:prstGeom prst="rect">
            <a:avLst/>
          </a:prstGeom>
          <a:noFill/>
        </p:spPr>
        <p:txBody>
          <a:bodyPr wrap="square" rtlCol="0">
            <a:spAutoFit/>
          </a:bodyPr>
          <a:lstStyle/>
          <a:p>
            <a:r>
              <a:rPr lang="en-US" dirty="0">
                <a:latin typeface="Bahnschrift Light Condensed" panose="020B0502040204020203" pitchFamily="34" charset="0"/>
              </a:rPr>
              <a:t>By: Omar Khader , Zaid Ardah, Mahmoud </a:t>
            </a:r>
            <a:r>
              <a:rPr lang="en-US" dirty="0" err="1">
                <a:latin typeface="Bahnschrift Light Condensed" panose="020B0502040204020203" pitchFamily="34" charset="0"/>
              </a:rPr>
              <a:t>Abdelghafor</a:t>
            </a:r>
            <a:endParaRPr lang="en-US" dirty="0">
              <a:latin typeface="Bahnschrift Light Condensed" panose="020B0502040204020203" pitchFamily="34" charset="0"/>
            </a:endParaRPr>
          </a:p>
          <a:p>
            <a:r>
              <a:rPr lang="en-US" dirty="0">
                <a:latin typeface="Bahnschrift Light Condensed" panose="020B0502040204020203" pitchFamily="34" charset="0"/>
              </a:rPr>
              <a:t>Prof. Mohammed Awad </a:t>
            </a:r>
          </a:p>
          <a:p>
            <a:r>
              <a:rPr lang="en-US" dirty="0">
                <a:latin typeface="Bahnschrift Light Condensed" panose="020B0502040204020203" pitchFamily="34" charset="0"/>
              </a:rPr>
              <a:t>Arab American University</a:t>
            </a:r>
          </a:p>
          <a:p>
            <a:r>
              <a:rPr lang="en-US" dirty="0">
                <a:latin typeface="Bahnschrift Light Condensed" panose="020B0502040204020203" pitchFamily="34" charset="0"/>
              </a:rPr>
              <a:t>May 2026</a:t>
            </a:r>
          </a:p>
        </p:txBody>
      </p:sp>
    </p:spTree>
    <p:extLst>
      <p:ext uri="{BB962C8B-B14F-4D97-AF65-F5344CB8AC3E}">
        <p14:creationId xmlns:p14="http://schemas.microsoft.com/office/powerpoint/2010/main" val="3533032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Understanding Anomaly Detection</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1019270" y="1875355"/>
            <a:ext cx="6142021" cy="1553645"/>
          </a:xfrm>
        </p:spPr>
        <p:txBody>
          <a:bodyPr>
            <a:normAutofit fontScale="85000" lnSpcReduction="10000"/>
          </a:bodyPr>
          <a:lstStyle/>
          <a:p>
            <a:pPr marL="0" indent="0">
              <a:buNone/>
            </a:pPr>
            <a:r>
              <a:rPr lang="en-US" sz="2000" dirty="0">
                <a:latin typeface="Bahnschrift Light Condensed" panose="020B0502040204020203" pitchFamily="34" charset="0"/>
              </a:rPr>
              <a:t>Anomaly detection uses intelligence to figure out what normal data looks like and find things that do not fit in. This helps organizations see when something is not right. Anomaly detection does this by looking for things that're different from what is normally expected. It can help organizations find problems like fraud or mistakes in the system. It can also help them see when something strange is going on. Anomaly detection is really good, at finding these kinds of problems so organizations can fix them quickly.</a:t>
            </a:r>
          </a:p>
        </p:txBody>
      </p:sp>
      <p:sp>
        <p:nvSpPr>
          <p:cNvPr id="4" name="TextBox 3">
            <a:extLst>
              <a:ext uri="{FF2B5EF4-FFF2-40B4-BE49-F238E27FC236}">
                <a16:creationId xmlns:a16="http://schemas.microsoft.com/office/drawing/2014/main" id="{622B7305-DD67-480F-30FE-B02C23C11872}"/>
              </a:ext>
            </a:extLst>
          </p:cNvPr>
          <p:cNvSpPr txBox="1"/>
          <p:nvPr/>
        </p:nvSpPr>
        <p:spPr>
          <a:xfrm>
            <a:off x="477519" y="408336"/>
            <a:ext cx="1109599" cy="369332"/>
          </a:xfrm>
          <a:prstGeom prst="rect">
            <a:avLst/>
          </a:prstGeom>
          <a:noFill/>
        </p:spPr>
        <p:txBody>
          <a:bodyPr wrap="none" rtlCol="0">
            <a:spAutoFit/>
          </a:bodyPr>
          <a:lstStyle/>
          <a:p>
            <a:r>
              <a:rPr lang="en-US" dirty="0">
                <a:solidFill>
                  <a:schemeClr val="bg2">
                    <a:lumMod val="50000"/>
                  </a:schemeClr>
                </a:solidFill>
                <a:latin typeface="Bahnschrift Condensed" panose="020B0502040204020203" pitchFamily="34" charset="0"/>
              </a:rPr>
              <a:t>Introduction</a:t>
            </a:r>
          </a:p>
        </p:txBody>
      </p:sp>
      <p:pic>
        <p:nvPicPr>
          <p:cNvPr id="6" name="Picture 5">
            <a:extLst>
              <a:ext uri="{FF2B5EF4-FFF2-40B4-BE49-F238E27FC236}">
                <a16:creationId xmlns:a16="http://schemas.microsoft.com/office/drawing/2014/main" id="{F3214E7D-71F7-14A7-E438-DEA5479B83B3}"/>
              </a:ext>
            </a:extLst>
          </p:cNvPr>
          <p:cNvPicPr>
            <a:picLocks noChangeAspect="1"/>
          </p:cNvPicPr>
          <p:nvPr/>
        </p:nvPicPr>
        <p:blipFill>
          <a:blip r:embed="rId2"/>
          <a:stretch>
            <a:fillRect/>
          </a:stretch>
        </p:blipFill>
        <p:spPr>
          <a:xfrm>
            <a:off x="8087009" y="1647592"/>
            <a:ext cx="4104991" cy="3047514"/>
          </a:xfrm>
          <a:prstGeom prst="rect">
            <a:avLst/>
          </a:prstGeom>
        </p:spPr>
      </p:pic>
      <p:cxnSp>
        <p:nvCxnSpPr>
          <p:cNvPr id="8" name="Straight Connector 7">
            <a:extLst>
              <a:ext uri="{FF2B5EF4-FFF2-40B4-BE49-F238E27FC236}">
                <a16:creationId xmlns:a16="http://schemas.microsoft.com/office/drawing/2014/main" id="{07EAB387-829E-A879-C3EE-F9BBCAF29439}"/>
              </a:ext>
            </a:extLst>
          </p:cNvPr>
          <p:cNvCxnSpPr>
            <a:cxnSpLocks/>
          </p:cNvCxnSpPr>
          <p:nvPr/>
        </p:nvCxnSpPr>
        <p:spPr>
          <a:xfrm flipV="1">
            <a:off x="7831247" y="798968"/>
            <a:ext cx="0" cy="5260064"/>
          </a:xfrm>
          <a:prstGeom prst="line">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A6636788-08FD-5E9B-3091-7285456A8F02}"/>
              </a:ext>
            </a:extLst>
          </p:cNvPr>
          <p:cNvCxnSpPr>
            <a:cxnSpLocks/>
          </p:cNvCxnSpPr>
          <p:nvPr/>
        </p:nvCxnSpPr>
        <p:spPr>
          <a:xfrm flipV="1">
            <a:off x="10393379" y="2123758"/>
            <a:ext cx="1141491" cy="853801"/>
          </a:xfrm>
          <a:prstGeom prst="straightConnector1">
            <a:avLst/>
          </a:prstGeom>
          <a:ln>
            <a:solidFill>
              <a:schemeClr val="bg2">
                <a:lumMod val="75000"/>
              </a:schemeClr>
            </a:solidFill>
            <a:tailEnd type="triangle"/>
          </a:ln>
        </p:spPr>
        <p:style>
          <a:lnRef idx="2">
            <a:schemeClr val="dk1"/>
          </a:lnRef>
          <a:fillRef idx="0">
            <a:schemeClr val="dk1"/>
          </a:fillRef>
          <a:effectRef idx="1">
            <a:schemeClr val="dk1"/>
          </a:effectRef>
          <a:fontRef idx="minor">
            <a:schemeClr val="tx1"/>
          </a:fontRef>
        </p:style>
      </p:cxnSp>
      <p:pic>
        <p:nvPicPr>
          <p:cNvPr id="16" name="Picture 15">
            <a:extLst>
              <a:ext uri="{FF2B5EF4-FFF2-40B4-BE49-F238E27FC236}">
                <a16:creationId xmlns:a16="http://schemas.microsoft.com/office/drawing/2014/main" id="{8BDC2A8E-75F2-AC53-1B61-1FA90ADC2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963131"/>
            <a:ext cx="6766712" cy="1463951"/>
          </a:xfrm>
          <a:prstGeom prst="rect">
            <a:avLst/>
          </a:prstGeom>
        </p:spPr>
      </p:pic>
    </p:spTree>
    <p:extLst>
      <p:ext uri="{BB962C8B-B14F-4D97-AF65-F5344CB8AC3E}">
        <p14:creationId xmlns:p14="http://schemas.microsoft.com/office/powerpoint/2010/main" val="2183567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Previous Uses of Anomaly Detection</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1019270" y="1651518"/>
            <a:ext cx="6435886" cy="4527472"/>
          </a:xfrm>
        </p:spPr>
        <p:txBody>
          <a:bodyPr>
            <a:normAutofit lnSpcReduction="10000"/>
          </a:bodyPr>
          <a:lstStyle/>
          <a:p>
            <a:pPr marL="0" indent="0">
              <a:buNone/>
            </a:pPr>
            <a:r>
              <a:rPr lang="en-US" sz="2100" b="1" dirty="0">
                <a:latin typeface="Bahnschrift Condensed" panose="020B0502040204020203" pitchFamily="34" charset="0"/>
              </a:rPr>
              <a:t>Chandola et al. (2009) – Anomaly Detection: A Survey :</a:t>
            </a:r>
          </a:p>
          <a:p>
            <a:pPr marL="0" indent="0">
              <a:buNone/>
            </a:pPr>
            <a:r>
              <a:rPr lang="en-US" sz="1500" dirty="0">
                <a:latin typeface="Bahnschrift Condensed" panose="020B0502040204020203" pitchFamily="34" charset="0"/>
              </a:rPr>
              <a:t>A Survey, looked at all the ways to detect anomalies and where they are used. The authors pointed out that detecting anomalies is very important in areas, such as keeping computers and networks safe helping people get better in hospitals and stopping fake money transactions.</a:t>
            </a:r>
          </a:p>
          <a:p>
            <a:pPr marL="0" indent="0">
              <a:buNone/>
            </a:pPr>
            <a:r>
              <a:rPr lang="en-US" sz="2100" b="1" dirty="0">
                <a:latin typeface="Bahnschrift Condensed" panose="020B0502040204020203" pitchFamily="34" charset="0"/>
              </a:rPr>
              <a:t>Liu et al. (2008) – Isolation Forest :</a:t>
            </a:r>
          </a:p>
          <a:p>
            <a:pPr marL="0" indent="0">
              <a:buNone/>
            </a:pPr>
            <a:r>
              <a:rPr lang="en-US" sz="1500" dirty="0">
                <a:latin typeface="Bahnschrift Condensed" panose="020B0502040204020203" pitchFamily="34" charset="0"/>
              </a:rPr>
              <a:t>This method, called the Isolation Forest algorithm is used a lot now. It works by finding data points that're very different from normal ones, which are usually easy to spot because they are rare.</a:t>
            </a:r>
          </a:p>
          <a:p>
            <a:pPr marL="0" indent="0">
              <a:buNone/>
            </a:pPr>
            <a:r>
              <a:rPr lang="en-US" sz="2100" b="1" dirty="0">
                <a:latin typeface="Bahnschrift Condensed" panose="020B0502040204020203" pitchFamily="34" charset="0"/>
              </a:rPr>
              <a:t>Chalapathy and Chawla (2019) – Deep Learning for Anomaly Detection :</a:t>
            </a:r>
          </a:p>
          <a:p>
            <a:pPr marL="0" indent="0">
              <a:buNone/>
            </a:pPr>
            <a:r>
              <a:rPr lang="en-US" sz="1500" dirty="0">
                <a:latin typeface="Bahnschrift Condensed" panose="020B0502040204020203" pitchFamily="34" charset="0"/>
              </a:rPr>
              <a:t>The study looked at using learning to find anomalies in complex datasets. It talked about the things about deep learning models as well as the problems and limitations that come with using them.</a:t>
            </a:r>
          </a:p>
          <a:p>
            <a:pPr marL="0" indent="0">
              <a:buNone/>
            </a:pPr>
            <a:r>
              <a:rPr lang="en-US" sz="2100" b="1" dirty="0">
                <a:latin typeface="Bahnschrift Condensed" panose="020B0502040204020203" pitchFamily="34" charset="0"/>
              </a:rPr>
              <a:t>Twitter Engineering (2015) – Time-Series Anomaly Detection :</a:t>
            </a:r>
          </a:p>
          <a:p>
            <a:pPr marL="0" indent="0">
              <a:buNone/>
            </a:pPr>
            <a:r>
              <a:rPr lang="en-US" sz="1500" dirty="0">
                <a:latin typeface="Bahnschrift Condensed" panose="020B0502040204020203" pitchFamily="34" charset="0"/>
              </a:rPr>
              <a:t>Twitter Engineering came up with a way to detect anomalies in time-series data in 2015. They proposed a method called Seasonal Hybrid ESD, which's very good at finding unusual patterns in data that changes over time. This technique is especially useful for finding changes, which makes it good, for watching what is happening in real-time.</a:t>
            </a:r>
          </a:p>
        </p:txBody>
      </p:sp>
      <p:sp>
        <p:nvSpPr>
          <p:cNvPr id="4" name="TextBox 3">
            <a:extLst>
              <a:ext uri="{FF2B5EF4-FFF2-40B4-BE49-F238E27FC236}">
                <a16:creationId xmlns:a16="http://schemas.microsoft.com/office/drawing/2014/main" id="{622B7305-DD67-480F-30FE-B02C23C11872}"/>
              </a:ext>
            </a:extLst>
          </p:cNvPr>
          <p:cNvSpPr txBox="1"/>
          <p:nvPr/>
        </p:nvSpPr>
        <p:spPr>
          <a:xfrm>
            <a:off x="477519" y="408336"/>
            <a:ext cx="28857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lumMod val="50000"/>
                  </a:schemeClr>
                </a:solidFill>
                <a:latin typeface="Bahnschrift Condensed" panose="020B0502040204020203" pitchFamily="34" charset="0"/>
              </a:rPr>
              <a:t>Related Literature / Previous Works</a:t>
            </a:r>
            <a:endParaRPr kumimoji="0" lang="en-US" sz="1800" b="0" i="0" u="none" strike="noStrike" kern="1200" cap="none" spc="0" normalizeH="0" baseline="0" noProof="0" dirty="0">
              <a:ln>
                <a:noFill/>
              </a:ln>
              <a:solidFill>
                <a:schemeClr val="bg2">
                  <a:lumMod val="50000"/>
                </a:schemeClr>
              </a:solidFill>
              <a:effectLst/>
              <a:uLnTx/>
              <a:uFillTx/>
              <a:latin typeface="Bahnschrift Condensed" panose="020B0502040204020203" pitchFamily="34" charset="0"/>
            </a:endParaRPr>
          </a:p>
        </p:txBody>
      </p:sp>
      <p:cxnSp>
        <p:nvCxnSpPr>
          <p:cNvPr id="8" name="Straight Connector 7">
            <a:extLst>
              <a:ext uri="{FF2B5EF4-FFF2-40B4-BE49-F238E27FC236}">
                <a16:creationId xmlns:a16="http://schemas.microsoft.com/office/drawing/2014/main" id="{07EAB387-829E-A879-C3EE-F9BBCAF29439}"/>
              </a:ext>
            </a:extLst>
          </p:cNvPr>
          <p:cNvCxnSpPr>
            <a:cxnSpLocks/>
          </p:cNvCxnSpPr>
          <p:nvPr/>
        </p:nvCxnSpPr>
        <p:spPr>
          <a:xfrm>
            <a:off x="7659230" y="679010"/>
            <a:ext cx="0" cy="5676523"/>
          </a:xfrm>
          <a:prstGeom prst="line">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45F02499-D5B6-03ED-8980-047F631A015B}"/>
              </a:ext>
            </a:extLst>
          </p:cNvPr>
          <p:cNvPicPr>
            <a:picLocks noChangeAspect="1"/>
          </p:cNvPicPr>
          <p:nvPr/>
        </p:nvPicPr>
        <p:blipFill>
          <a:blip r:embed="rId2"/>
          <a:srcRect l="457"/>
          <a:stretch/>
        </p:blipFill>
        <p:spPr>
          <a:xfrm>
            <a:off x="7767871" y="1906505"/>
            <a:ext cx="4354718" cy="3084266"/>
          </a:xfrm>
          <a:prstGeom prst="rect">
            <a:avLst/>
          </a:prstGeom>
        </p:spPr>
      </p:pic>
    </p:spTree>
    <p:extLst>
      <p:ext uri="{BB962C8B-B14F-4D97-AF65-F5344CB8AC3E}">
        <p14:creationId xmlns:p14="http://schemas.microsoft.com/office/powerpoint/2010/main" val="4276673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How Anomaly Detection Works</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1019270" y="1439501"/>
            <a:ext cx="6586793" cy="1989499"/>
          </a:xfrm>
        </p:spPr>
        <p:txBody>
          <a:bodyPr>
            <a:normAutofit fontScale="92500" lnSpcReduction="20000"/>
          </a:bodyPr>
          <a:lstStyle/>
          <a:p>
            <a:endParaRPr lang="en-US" sz="1400" b="1" dirty="0"/>
          </a:p>
          <a:p>
            <a:r>
              <a:rPr lang="en-US" sz="2000" dirty="0">
                <a:latin typeface="Bahnschrift Light Condensed" panose="020B0502040204020203" pitchFamily="34" charset="0"/>
              </a:rPr>
              <a:t>Anomaly detection is a way to find things that do not look right in information. It uses computers to look at data and learn what is normal. Then when new information comes in it can see if something is different. This helps companies find issues fast and do something about them. Anomaly detection is really good at finding things that're not like the other things, in the information. So, companies can use anomaly detection to stay on top of things and fix problems before they get big.</a:t>
            </a:r>
          </a:p>
        </p:txBody>
      </p:sp>
      <p:pic>
        <p:nvPicPr>
          <p:cNvPr id="6" name="Picture 5">
            <a:extLst>
              <a:ext uri="{FF2B5EF4-FFF2-40B4-BE49-F238E27FC236}">
                <a16:creationId xmlns:a16="http://schemas.microsoft.com/office/drawing/2014/main" id="{73E35E64-7839-10D7-7F44-1D9F67A4CCC0}"/>
              </a:ext>
            </a:extLst>
          </p:cNvPr>
          <p:cNvPicPr>
            <a:picLocks noChangeAspect="1"/>
          </p:cNvPicPr>
          <p:nvPr/>
        </p:nvPicPr>
        <p:blipFill>
          <a:blip r:embed="rId2"/>
          <a:stretch>
            <a:fillRect/>
          </a:stretch>
        </p:blipFill>
        <p:spPr>
          <a:xfrm>
            <a:off x="1701050" y="3228085"/>
            <a:ext cx="7740550" cy="3600497"/>
          </a:xfrm>
          <a:prstGeom prst="rect">
            <a:avLst/>
          </a:prstGeom>
        </p:spPr>
      </p:pic>
      <p:cxnSp>
        <p:nvCxnSpPr>
          <p:cNvPr id="9" name="Straight Connector 8">
            <a:extLst>
              <a:ext uri="{FF2B5EF4-FFF2-40B4-BE49-F238E27FC236}">
                <a16:creationId xmlns:a16="http://schemas.microsoft.com/office/drawing/2014/main" id="{39C46976-8C2A-F336-4602-A52739B86C6B}"/>
              </a:ext>
            </a:extLst>
          </p:cNvPr>
          <p:cNvCxnSpPr>
            <a:cxnSpLocks/>
          </p:cNvCxnSpPr>
          <p:nvPr/>
        </p:nvCxnSpPr>
        <p:spPr>
          <a:xfrm>
            <a:off x="7650178" y="777668"/>
            <a:ext cx="0" cy="2479835"/>
          </a:xfrm>
          <a:prstGeom prst="line">
            <a:avLst/>
          </a:prstGeom>
          <a:ln>
            <a:solidFill>
              <a:schemeClr val="bg2">
                <a:lumMod val="75000"/>
              </a:schemeClr>
            </a:solidFill>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7CFAB16-FFDB-15F6-333C-A2860F171CDA}"/>
              </a:ext>
            </a:extLst>
          </p:cNvPr>
          <p:cNvSpPr txBox="1"/>
          <p:nvPr/>
        </p:nvSpPr>
        <p:spPr>
          <a:xfrm>
            <a:off x="8279688" y="845552"/>
            <a:ext cx="3029997" cy="2215991"/>
          </a:xfrm>
          <a:prstGeom prst="rect">
            <a:avLst/>
          </a:prstGeom>
          <a:noFill/>
        </p:spPr>
        <p:txBody>
          <a:bodyPr wrap="none" rtlCol="0">
            <a:spAutoFit/>
          </a:bodyPr>
          <a:lstStyle/>
          <a:p>
            <a:r>
              <a:rPr lang="en-US" sz="2000" b="1" dirty="0">
                <a:latin typeface="Bahnschrift Condensed" panose="020B0502040204020203" pitchFamily="34" charset="0"/>
              </a:rPr>
              <a:t>How AI improves it:</a:t>
            </a:r>
            <a:endParaRPr lang="en-US" sz="2000" dirty="0">
              <a:latin typeface="Bahnschrift Condensed" panose="020B0502040204020203" pitchFamily="34" charset="0"/>
            </a:endParaRPr>
          </a:p>
          <a:p>
            <a:pPr marL="342900" indent="-342900">
              <a:buFont typeface="Arial" panose="020B0604020202020204" pitchFamily="34" charset="0"/>
              <a:buChar char="•"/>
            </a:pPr>
            <a:r>
              <a:rPr lang="en-US" sz="2000" dirty="0">
                <a:latin typeface="Bahnschrift Light Condensed" panose="020B0502040204020203" pitchFamily="34" charset="0"/>
              </a:rPr>
              <a:t>Faster detection </a:t>
            </a:r>
          </a:p>
          <a:p>
            <a:pPr marL="342900" indent="-342900">
              <a:buFont typeface="Arial" panose="020B0604020202020204" pitchFamily="34" charset="0"/>
              <a:buChar char="•"/>
            </a:pPr>
            <a:r>
              <a:rPr lang="en-US" sz="2000" dirty="0">
                <a:latin typeface="Bahnschrift Light Condensed" panose="020B0502040204020203" pitchFamily="34" charset="0"/>
              </a:rPr>
              <a:t>Real-time monitoring </a:t>
            </a:r>
          </a:p>
          <a:p>
            <a:pPr marL="342900" indent="-342900">
              <a:buFont typeface="Arial" panose="020B0604020202020204" pitchFamily="34" charset="0"/>
              <a:buChar char="•"/>
            </a:pPr>
            <a:r>
              <a:rPr lang="en-US" sz="2000" dirty="0">
                <a:latin typeface="Bahnschrift Light Condensed" panose="020B0502040204020203" pitchFamily="34" charset="0"/>
              </a:rPr>
              <a:t>Finds hidden patterns </a:t>
            </a:r>
          </a:p>
          <a:p>
            <a:pPr marL="342900" indent="-342900">
              <a:buFont typeface="Arial" panose="020B0604020202020204" pitchFamily="34" charset="0"/>
              <a:buChar char="•"/>
            </a:pPr>
            <a:r>
              <a:rPr lang="en-US" sz="2000" dirty="0">
                <a:latin typeface="Bahnschrift Light Condensed" panose="020B0502040204020203" pitchFamily="34" charset="0"/>
              </a:rPr>
              <a:t>Reduces manual work </a:t>
            </a:r>
          </a:p>
          <a:p>
            <a:pPr marL="342900" indent="-342900">
              <a:buFont typeface="Arial" panose="020B0604020202020204" pitchFamily="34" charset="0"/>
              <a:buChar char="•"/>
            </a:pPr>
            <a:r>
              <a:rPr lang="en-US" sz="2000" dirty="0">
                <a:latin typeface="Bahnschrift Light Condensed" panose="020B0502040204020203" pitchFamily="34" charset="0"/>
              </a:rPr>
              <a:t>Helps prevent problems early</a:t>
            </a:r>
          </a:p>
          <a:p>
            <a:endParaRPr lang="en-US" dirty="0"/>
          </a:p>
        </p:txBody>
      </p:sp>
      <p:sp>
        <p:nvSpPr>
          <p:cNvPr id="4" name="TextBox 3">
            <a:extLst>
              <a:ext uri="{FF2B5EF4-FFF2-40B4-BE49-F238E27FC236}">
                <a16:creationId xmlns:a16="http://schemas.microsoft.com/office/drawing/2014/main" id="{3147E5EB-EB96-EB6D-8FC4-CDA647C59AC7}"/>
              </a:ext>
            </a:extLst>
          </p:cNvPr>
          <p:cNvSpPr txBox="1"/>
          <p:nvPr/>
        </p:nvSpPr>
        <p:spPr>
          <a:xfrm>
            <a:off x="477519" y="408336"/>
            <a:ext cx="2359941" cy="369332"/>
          </a:xfrm>
          <a:prstGeom prst="rect">
            <a:avLst/>
          </a:prstGeom>
          <a:noFill/>
        </p:spPr>
        <p:txBody>
          <a:bodyPr wrap="none" rtlCol="0">
            <a:spAutoFit/>
          </a:bodyPr>
          <a:lstStyle/>
          <a:p>
            <a:r>
              <a:rPr lang="en-US" dirty="0">
                <a:solidFill>
                  <a:schemeClr val="bg2">
                    <a:lumMod val="50000"/>
                  </a:schemeClr>
                </a:solidFill>
                <a:latin typeface="Bahnschrift Condensed" panose="020B0502040204020203" pitchFamily="34" charset="0"/>
              </a:rPr>
              <a:t>Anomaly Detection Workflow</a:t>
            </a:r>
          </a:p>
        </p:txBody>
      </p:sp>
    </p:spTree>
    <p:extLst>
      <p:ext uri="{BB962C8B-B14F-4D97-AF65-F5344CB8AC3E}">
        <p14:creationId xmlns:p14="http://schemas.microsoft.com/office/powerpoint/2010/main" val="3114475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Real-World Example: Fraud Detection in Banking</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922619" y="1679971"/>
            <a:ext cx="9690980" cy="3498058"/>
          </a:xfrm>
        </p:spPr>
        <p:txBody>
          <a:bodyPr>
            <a:normAutofit/>
          </a:bodyPr>
          <a:lstStyle/>
          <a:p>
            <a:pPr marL="0" indent="0">
              <a:buNone/>
            </a:pPr>
            <a:r>
              <a:rPr lang="en-US" sz="1500" b="1" dirty="0"/>
              <a:t>Anomaly detection is really important in the banking sector because it helps find financial transactions.</a:t>
            </a:r>
          </a:p>
          <a:p>
            <a:pPr marL="0" indent="0">
              <a:buNone/>
            </a:pPr>
            <a:r>
              <a:rPr lang="en-US" sz="1400" dirty="0"/>
              <a:t>AI systems look at what a customer does like how they spend their money, where they are, what device they use and when they make transactions. When a new transaction is very different from what the customer does the system says it might be fake and sends an alert so someone can look into it more.</a:t>
            </a:r>
            <a:endParaRPr lang="en-US" sz="1400" b="1" dirty="0"/>
          </a:p>
          <a:p>
            <a:pPr marL="0" indent="0">
              <a:buNone/>
            </a:pPr>
            <a:r>
              <a:rPr lang="en-US" sz="1500" b="1" dirty="0"/>
              <a:t>Example:</a:t>
            </a:r>
          </a:p>
          <a:p>
            <a:pPr marL="0" indent="0">
              <a:buNone/>
            </a:pPr>
            <a:r>
              <a:rPr lang="en-US" sz="1400" dirty="0"/>
              <a:t>If a customer usually buys things near their home but then makes a big purchase, from another country the system might think this is weird.</a:t>
            </a:r>
            <a:endParaRPr lang="en-US" sz="1400" b="1" dirty="0"/>
          </a:p>
          <a:p>
            <a:pPr marL="0" indent="0">
              <a:buNone/>
            </a:pPr>
            <a:r>
              <a:rPr lang="en-US" sz="1500" b="1" dirty="0"/>
              <a:t>Benefits:</a:t>
            </a:r>
          </a:p>
          <a:p>
            <a:pPr marL="0" indent="0">
              <a:buNone/>
            </a:pPr>
            <a:r>
              <a:rPr lang="en-US" sz="1400" dirty="0"/>
              <a:t>Anomaly detection helps banks stop fraud from happening keeps customers safe and reduces money losses by finding transactions as they happen.</a:t>
            </a:r>
          </a:p>
        </p:txBody>
      </p:sp>
      <p:pic>
        <p:nvPicPr>
          <p:cNvPr id="7" name="Picture 6">
            <a:extLst>
              <a:ext uri="{FF2B5EF4-FFF2-40B4-BE49-F238E27FC236}">
                <a16:creationId xmlns:a16="http://schemas.microsoft.com/office/drawing/2014/main" id="{476C4763-7E5F-2E1F-3510-A9EF82A1640F}"/>
              </a:ext>
            </a:extLst>
          </p:cNvPr>
          <p:cNvPicPr>
            <a:picLocks noChangeAspect="1"/>
          </p:cNvPicPr>
          <p:nvPr/>
        </p:nvPicPr>
        <p:blipFill>
          <a:blip r:embed="rId2">
            <a:extLst>
              <a:ext uri="{28A0092B-C50C-407E-A947-70E740481C1C}">
                <a14:useLocalDpi xmlns:a14="http://schemas.microsoft.com/office/drawing/2010/main" val="0"/>
              </a:ext>
            </a:extLst>
          </a:blip>
          <a:srcRect t="23213" b="12371"/>
          <a:stretch/>
        </p:blipFill>
        <p:spPr>
          <a:xfrm>
            <a:off x="3006239" y="4514430"/>
            <a:ext cx="5409973" cy="2269387"/>
          </a:xfrm>
          <a:prstGeom prst="rect">
            <a:avLst/>
          </a:prstGeom>
        </p:spPr>
      </p:pic>
      <p:cxnSp>
        <p:nvCxnSpPr>
          <p:cNvPr id="11" name="Straight Connector 10">
            <a:extLst>
              <a:ext uri="{FF2B5EF4-FFF2-40B4-BE49-F238E27FC236}">
                <a16:creationId xmlns:a16="http://schemas.microsoft.com/office/drawing/2014/main" id="{41993142-415B-64FB-C060-7F47FCAFA1BB}"/>
              </a:ext>
            </a:extLst>
          </p:cNvPr>
          <p:cNvCxnSpPr>
            <a:cxnSpLocks/>
          </p:cNvCxnSpPr>
          <p:nvPr/>
        </p:nvCxnSpPr>
        <p:spPr>
          <a:xfrm>
            <a:off x="3006239" y="4514430"/>
            <a:ext cx="5532582" cy="0"/>
          </a:xfrm>
          <a:prstGeom prst="line">
            <a:avLst/>
          </a:prstGeom>
          <a:ln w="19050">
            <a:solidFill>
              <a:schemeClr val="bg2">
                <a:lumMod val="75000"/>
              </a:schemeClr>
            </a:solidFill>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8BF94837-17C8-E4AB-311E-0371F3BE2658}"/>
              </a:ext>
            </a:extLst>
          </p:cNvPr>
          <p:cNvSpPr txBox="1"/>
          <p:nvPr/>
        </p:nvSpPr>
        <p:spPr>
          <a:xfrm>
            <a:off x="477519" y="408336"/>
            <a:ext cx="1728358" cy="369332"/>
          </a:xfrm>
          <a:prstGeom prst="rect">
            <a:avLst/>
          </a:prstGeom>
          <a:noFill/>
        </p:spPr>
        <p:txBody>
          <a:bodyPr wrap="none" rtlCol="0">
            <a:spAutoFit/>
          </a:bodyPr>
          <a:lstStyle/>
          <a:p>
            <a:r>
              <a:rPr lang="en-US" dirty="0">
                <a:solidFill>
                  <a:schemeClr val="bg2">
                    <a:lumMod val="50000"/>
                  </a:schemeClr>
                </a:solidFill>
                <a:latin typeface="Bahnschrift Condensed" panose="020B0502040204020203" pitchFamily="34" charset="0"/>
              </a:rPr>
              <a:t>Real-World Example</a:t>
            </a:r>
          </a:p>
        </p:txBody>
      </p:sp>
    </p:spTree>
    <p:extLst>
      <p:ext uri="{BB962C8B-B14F-4D97-AF65-F5344CB8AC3E}">
        <p14:creationId xmlns:p14="http://schemas.microsoft.com/office/powerpoint/2010/main" val="28484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Recommendations for Effective Anomaly Detection</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915838" y="1867230"/>
            <a:ext cx="9690980" cy="4582434"/>
          </a:xfrm>
        </p:spPr>
        <p:txBody>
          <a:bodyPr>
            <a:normAutofit fontScale="77500" lnSpcReduction="20000"/>
          </a:bodyPr>
          <a:lstStyle/>
          <a:p>
            <a:pPr marL="0" indent="0">
              <a:buNone/>
            </a:pPr>
            <a:r>
              <a:rPr lang="en-US" sz="3600" b="1" dirty="0">
                <a:latin typeface="Bahnschrift Condensed" panose="020B0502040204020203" pitchFamily="34" charset="0"/>
              </a:rPr>
              <a:t>To use anomaly detection effectively:</a:t>
            </a:r>
          </a:p>
          <a:p>
            <a:pPr marL="0" indent="0">
              <a:buNone/>
            </a:pPr>
            <a:endParaRPr lang="en-US" sz="2600" dirty="0">
              <a:latin typeface="Bahnschrift Light Condensed" panose="020B0502040204020203" pitchFamily="34" charset="0"/>
            </a:endParaRPr>
          </a:p>
          <a:p>
            <a:pPr>
              <a:lnSpc>
                <a:spcPct val="120000"/>
              </a:lnSpc>
            </a:pPr>
            <a:r>
              <a:rPr lang="en-US" sz="2600" dirty="0">
                <a:latin typeface="Bahnschrift Light Condensed" panose="020B0502040204020203" pitchFamily="34" charset="0"/>
              </a:rPr>
              <a:t>We need to make sure we are using correct data when we are teaching AI models.</a:t>
            </a:r>
          </a:p>
          <a:p>
            <a:pPr>
              <a:lnSpc>
                <a:spcPct val="120000"/>
              </a:lnSpc>
            </a:pPr>
            <a:r>
              <a:rPr lang="en-US" sz="2600" dirty="0">
                <a:latin typeface="Bahnschrift Light Condensed" panose="020B0502040204020203" pitchFamily="34" charset="0"/>
              </a:rPr>
              <a:t>The AI models have to be used in areas like banking and healthcare where we need to find problems early.</a:t>
            </a:r>
          </a:p>
          <a:p>
            <a:pPr>
              <a:lnSpc>
                <a:spcPct val="120000"/>
              </a:lnSpc>
            </a:pPr>
            <a:r>
              <a:rPr lang="en-US" sz="2600" dirty="0">
                <a:latin typeface="Bahnschrift Light Condensed" panose="020B0502040204020203" pitchFamily="34" charset="0"/>
              </a:rPr>
              <a:t>We also need to use systems that check everything all the time so we can find things that are happening and do something about them right away.</a:t>
            </a:r>
          </a:p>
          <a:p>
            <a:pPr>
              <a:lnSpc>
                <a:spcPct val="120000"/>
              </a:lnSpc>
            </a:pPr>
            <a:r>
              <a:rPr lang="en-US" sz="2600" dirty="0">
                <a:latin typeface="Bahnschrift Light Condensed" panose="020B0502040204020203" pitchFamily="34" charset="0"/>
              </a:rPr>
              <a:t>We have to be careful not to get many false warnings because that can make people not trust the system and they might miss important warnings.</a:t>
            </a:r>
          </a:p>
          <a:p>
            <a:pPr>
              <a:lnSpc>
                <a:spcPct val="120000"/>
              </a:lnSpc>
            </a:pPr>
            <a:r>
              <a:rPr lang="en-US" sz="2600" dirty="0">
                <a:latin typeface="Bahnschrift Light Condensed" panose="020B0502040204020203" pitchFamily="34" charset="0"/>
              </a:rPr>
              <a:t>We need to update the AI models all the time so they can keep up with the things that are happening.</a:t>
            </a:r>
          </a:p>
          <a:p>
            <a:pPr>
              <a:lnSpc>
                <a:spcPct val="120000"/>
              </a:lnSpc>
            </a:pPr>
            <a:r>
              <a:rPr lang="en-US" sz="2600" dirty="0">
                <a:latin typeface="Bahnschrift Light Condensed" panose="020B0502040204020203" pitchFamily="34" charset="0"/>
              </a:rPr>
              <a:t>The AI models should work with people who're experts so they can check the important warnings and help us make good decisions, about what to do.</a:t>
            </a:r>
          </a:p>
          <a:p>
            <a:pPr>
              <a:lnSpc>
                <a:spcPct val="120000"/>
              </a:lnSpc>
            </a:pPr>
            <a:endParaRPr lang="en-US" sz="2600" dirty="0">
              <a:latin typeface="Bahnschrift Light Condensed" panose="020B0502040204020203" pitchFamily="34" charset="0"/>
            </a:endParaRPr>
          </a:p>
        </p:txBody>
      </p:sp>
      <p:sp>
        <p:nvSpPr>
          <p:cNvPr id="4" name="TextBox 3">
            <a:extLst>
              <a:ext uri="{FF2B5EF4-FFF2-40B4-BE49-F238E27FC236}">
                <a16:creationId xmlns:a16="http://schemas.microsoft.com/office/drawing/2014/main" id="{8BF94837-17C8-E4AB-311E-0371F3BE2658}"/>
              </a:ext>
            </a:extLst>
          </p:cNvPr>
          <p:cNvSpPr txBox="1"/>
          <p:nvPr/>
        </p:nvSpPr>
        <p:spPr>
          <a:xfrm>
            <a:off x="477519" y="408336"/>
            <a:ext cx="1585690" cy="369332"/>
          </a:xfrm>
          <a:prstGeom prst="rect">
            <a:avLst/>
          </a:prstGeom>
          <a:noFill/>
        </p:spPr>
        <p:txBody>
          <a:bodyPr wrap="none" rtlCol="0">
            <a:spAutoFit/>
          </a:bodyPr>
          <a:lstStyle/>
          <a:p>
            <a:r>
              <a:rPr lang="en-US" dirty="0">
                <a:solidFill>
                  <a:schemeClr val="bg2">
                    <a:lumMod val="50000"/>
                  </a:schemeClr>
                </a:solidFill>
                <a:latin typeface="Bahnschrift Condensed" panose="020B0502040204020203" pitchFamily="34" charset="0"/>
              </a:rPr>
              <a:t>Recommendations</a:t>
            </a:r>
          </a:p>
        </p:txBody>
      </p:sp>
    </p:spTree>
    <p:extLst>
      <p:ext uri="{BB962C8B-B14F-4D97-AF65-F5344CB8AC3E}">
        <p14:creationId xmlns:p14="http://schemas.microsoft.com/office/powerpoint/2010/main" val="179523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A5A-8261-FE2E-9169-CF4B5C6C0BF2}"/>
              </a:ext>
            </a:extLst>
          </p:cNvPr>
          <p:cNvSpPr>
            <a:spLocks noGrp="1"/>
          </p:cNvSpPr>
          <p:nvPr>
            <p:ph type="title"/>
          </p:nvPr>
        </p:nvSpPr>
        <p:spPr>
          <a:xfrm>
            <a:off x="838200" y="679010"/>
            <a:ext cx="10515600" cy="1188220"/>
          </a:xfrm>
        </p:spPr>
        <p:txBody>
          <a:bodyPr/>
          <a:lstStyle/>
          <a:p>
            <a:r>
              <a:rPr lang="en-US" dirty="0">
                <a:latin typeface="Bahnschrift Condensed" panose="020B0502040204020203" pitchFamily="34" charset="0"/>
              </a:rPr>
              <a:t>Conclusion: Why Anomaly Detection Matters</a:t>
            </a:r>
          </a:p>
        </p:txBody>
      </p:sp>
      <p:sp>
        <p:nvSpPr>
          <p:cNvPr id="3" name="Content Placeholder 2">
            <a:extLst>
              <a:ext uri="{FF2B5EF4-FFF2-40B4-BE49-F238E27FC236}">
                <a16:creationId xmlns:a16="http://schemas.microsoft.com/office/drawing/2014/main" id="{9BF93260-2168-ACC2-8412-D87565A72881}"/>
              </a:ext>
            </a:extLst>
          </p:cNvPr>
          <p:cNvSpPr>
            <a:spLocks noGrp="1"/>
          </p:cNvSpPr>
          <p:nvPr>
            <p:ph idx="1"/>
          </p:nvPr>
        </p:nvSpPr>
        <p:spPr>
          <a:xfrm>
            <a:off x="984228" y="1867230"/>
            <a:ext cx="9690980" cy="1945646"/>
          </a:xfrm>
        </p:spPr>
        <p:txBody>
          <a:bodyPr>
            <a:normAutofit/>
          </a:bodyPr>
          <a:lstStyle/>
          <a:p>
            <a:pPr marL="0" indent="0">
              <a:buNone/>
            </a:pPr>
            <a:r>
              <a:rPr lang="en-US" sz="2600" dirty="0">
                <a:latin typeface="Bahnschrift Light Condensed" panose="020B0502040204020203" pitchFamily="34" charset="0"/>
              </a:rPr>
              <a:t>Anomaly detection is a useful thing that helps companies find weird patterns and possible problems before they get out of hand. This thing is great because it makes companies safer reduces the chance of bad things happening and helps people make decisions on time. Anomaly detection is very important, for types of businesses because it does all these things.</a:t>
            </a:r>
            <a:endParaRPr lang="en-US" sz="1050" dirty="0">
              <a:latin typeface="Bahnschrift Light Condensed" panose="020B0502040204020203" pitchFamily="34" charset="0"/>
            </a:endParaRPr>
          </a:p>
        </p:txBody>
      </p:sp>
      <p:sp>
        <p:nvSpPr>
          <p:cNvPr id="4" name="TextBox 3">
            <a:extLst>
              <a:ext uri="{FF2B5EF4-FFF2-40B4-BE49-F238E27FC236}">
                <a16:creationId xmlns:a16="http://schemas.microsoft.com/office/drawing/2014/main" id="{8BF94837-17C8-E4AB-311E-0371F3BE2658}"/>
              </a:ext>
            </a:extLst>
          </p:cNvPr>
          <p:cNvSpPr txBox="1"/>
          <p:nvPr/>
        </p:nvSpPr>
        <p:spPr>
          <a:xfrm>
            <a:off x="477519" y="408336"/>
            <a:ext cx="1013419" cy="369332"/>
          </a:xfrm>
          <a:prstGeom prst="rect">
            <a:avLst/>
          </a:prstGeom>
          <a:noFill/>
        </p:spPr>
        <p:txBody>
          <a:bodyPr wrap="none" rtlCol="0">
            <a:spAutoFit/>
          </a:bodyPr>
          <a:lstStyle/>
          <a:p>
            <a:r>
              <a:rPr lang="en-US" dirty="0">
                <a:solidFill>
                  <a:schemeClr val="bg2">
                    <a:lumMod val="50000"/>
                  </a:schemeClr>
                </a:solidFill>
                <a:latin typeface="Bahnschrift Condensed" panose="020B0502040204020203" pitchFamily="34" charset="0"/>
              </a:rPr>
              <a:t>Conclusion</a:t>
            </a:r>
          </a:p>
        </p:txBody>
      </p:sp>
    </p:spTree>
    <p:extLst>
      <p:ext uri="{BB962C8B-B14F-4D97-AF65-F5344CB8AC3E}">
        <p14:creationId xmlns:p14="http://schemas.microsoft.com/office/powerpoint/2010/main" val="3386246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853</Words>
  <Application>Microsoft Office PowerPoint</Application>
  <PresentationFormat>Widescreen</PresentationFormat>
  <Paragraphs>50</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Bahnschrift Condensed</vt:lpstr>
      <vt:lpstr>Bahnschrift Light Condensed</vt:lpstr>
      <vt:lpstr>Office Theme</vt:lpstr>
      <vt:lpstr>Anomaly Detection Using Artificial Intelligence</vt:lpstr>
      <vt:lpstr>Understanding Anomaly Detection</vt:lpstr>
      <vt:lpstr>Previous Uses of Anomaly Detection</vt:lpstr>
      <vt:lpstr>How Anomaly Detection Works</vt:lpstr>
      <vt:lpstr>Real-World Example: Fraud Detection in Banking</vt:lpstr>
      <vt:lpstr>Recommendations for Effective Anomaly Detection</vt:lpstr>
      <vt:lpstr>Conclusion: Why Anomaly Detection 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Bashar</dc:creator>
  <cp:lastModifiedBy>Omar Bashar</cp:lastModifiedBy>
  <cp:revision>5</cp:revision>
  <dcterms:created xsi:type="dcterms:W3CDTF">2026-05-23T11:58:26Z</dcterms:created>
  <dcterms:modified xsi:type="dcterms:W3CDTF">2026-06-06T15:04:27Z</dcterms:modified>
</cp:coreProperties>
</file>